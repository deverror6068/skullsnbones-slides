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HK Grotesk Bold" charset="1" panose="00000800000000000000"/>
      <p:regular r:id="rId21"/>
    </p:embeddedFont>
    <p:embeddedFont>
      <p:font typeface="Public Sans" charset="1" panose="00000000000000000000"/>
      <p:regular r:id="rId22"/>
    </p:embeddedFont>
    <p:embeddedFont>
      <p:font typeface="Open Sans" charset="1" panose="020B0606030504020204"/>
      <p:regular r:id="rId23"/>
    </p:embeddedFont>
    <p:embeddedFont>
      <p:font typeface="Lato Bold Italics" charset="1" panose="020F0802020204030203"/>
      <p:regular r:id="rId24"/>
    </p:embeddedFont>
    <p:embeddedFont>
      <p:font typeface="Lato" charset="1" panose="020F0502020204030203"/>
      <p:regular r:id="rId25"/>
    </p:embeddedFont>
    <p:embeddedFont>
      <p:font typeface="Open Sans Bold" charset="1" panose="020B08060305040202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9.png" Type="http://schemas.openxmlformats.org/officeDocument/2006/relationships/image"/><Relationship Id="rId12" Target="../media/image8.png" Type="http://schemas.openxmlformats.org/officeDocument/2006/relationships/image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11.png" Type="http://schemas.openxmlformats.org/officeDocument/2006/relationships/image"/><Relationship Id="rId8" Target="../media/image12.pn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1443435" y="3988296"/>
            <a:ext cx="10404872" cy="10404872"/>
          </a:xfrm>
          <a:custGeom>
            <a:avLst/>
            <a:gdLst/>
            <a:ahLst/>
            <a:cxnLst/>
            <a:rect r="r" b="b" t="t" l="l"/>
            <a:pathLst>
              <a:path h="10404872" w="10404872">
                <a:moveTo>
                  <a:pt x="10404873" y="0"/>
                </a:moveTo>
                <a:lnTo>
                  <a:pt x="0" y="0"/>
                </a:lnTo>
                <a:lnTo>
                  <a:pt x="0" y="10404872"/>
                </a:lnTo>
                <a:lnTo>
                  <a:pt x="10404873" y="10404872"/>
                </a:lnTo>
                <a:lnTo>
                  <a:pt x="1040487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9326562" y="-4106168"/>
            <a:ext cx="10404872" cy="10404872"/>
          </a:xfrm>
          <a:custGeom>
            <a:avLst/>
            <a:gdLst/>
            <a:ahLst/>
            <a:cxnLst/>
            <a:rect r="r" b="b" t="t" l="l"/>
            <a:pathLst>
              <a:path h="10404872" w="10404872">
                <a:moveTo>
                  <a:pt x="0" y="10404872"/>
                </a:moveTo>
                <a:lnTo>
                  <a:pt x="10404873" y="10404872"/>
                </a:lnTo>
                <a:lnTo>
                  <a:pt x="10404873" y="0"/>
                </a:lnTo>
                <a:lnTo>
                  <a:pt x="0" y="0"/>
                </a:lnTo>
                <a:lnTo>
                  <a:pt x="0" y="1040487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766173" y="3538532"/>
            <a:ext cx="1851279" cy="1797358"/>
          </a:xfrm>
          <a:custGeom>
            <a:avLst/>
            <a:gdLst/>
            <a:ahLst/>
            <a:cxnLst/>
            <a:rect r="r" b="b" t="t" l="l"/>
            <a:pathLst>
              <a:path h="1797358" w="1851279">
                <a:moveTo>
                  <a:pt x="0" y="0"/>
                </a:moveTo>
                <a:lnTo>
                  <a:pt x="1851279" y="0"/>
                </a:lnTo>
                <a:lnTo>
                  <a:pt x="1851279" y="1797358"/>
                </a:lnTo>
                <a:lnTo>
                  <a:pt x="0" y="17973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118024" y="3681341"/>
            <a:ext cx="13497154" cy="2617363"/>
            <a:chOff x="0" y="0"/>
            <a:chExt cx="17996206" cy="3489817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76200"/>
              <a:ext cx="17996206" cy="2422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553"/>
                </a:lnSpc>
              </a:pPr>
              <a:r>
                <a:rPr lang="en-US" sz="11550">
                  <a:solidFill>
                    <a:srgbClr val="FFFFFF"/>
                  </a:solidFill>
                  <a:latin typeface="HK Grotesk Bold"/>
                </a:rPr>
                <a:t>Skulls n Bones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50699" y="2707671"/>
              <a:ext cx="17945507" cy="7821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810"/>
                </a:lnSpc>
                <a:spcBef>
                  <a:spcPct val="0"/>
                </a:spcBef>
              </a:pPr>
              <a:r>
                <a:rPr lang="en-US" sz="3436">
                  <a:solidFill>
                    <a:srgbClr val="FFFFFF"/>
                  </a:solidFill>
                  <a:latin typeface="Public Sans"/>
                </a:rPr>
                <a:t>Présentation Orale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394622" y="2286000"/>
            <a:ext cx="5364407" cy="1261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Public Sans"/>
              </a:rPr>
              <a:t>Jeu vidéo de zombie solo   en isométrique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474789" y="514350"/>
            <a:ext cx="11338422" cy="133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59"/>
              </a:lnSpc>
            </a:pPr>
            <a:r>
              <a:rPr lang="en-US" sz="8799">
                <a:solidFill>
                  <a:srgbClr val="FFFFFF"/>
                </a:solidFill>
                <a:latin typeface="HK Grotesk Bold"/>
              </a:rPr>
              <a:t>Présentation du projet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394622" y="6010399"/>
            <a:ext cx="8612257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Public Sans"/>
              </a:rPr>
              <a:t>Information du joueur stockées sur BDD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482998" y="4920139"/>
            <a:ext cx="5961822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Public Sans"/>
              </a:rPr>
              <a:t>Récupération des données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394622" y="7224386"/>
            <a:ext cx="7999343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Public Sans"/>
              </a:rPr>
              <a:t>Affichage des données sur site a part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394622" y="8314046"/>
            <a:ext cx="7999343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Public Sans"/>
              </a:rPr>
              <a:t>Score du Joueur enregistré en ligne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394622" y="3859054"/>
            <a:ext cx="7999343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Public Sans"/>
              </a:rPr>
              <a:t>Jeu de  type Slay them all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45624" y="3454236"/>
            <a:ext cx="6342747" cy="2997412"/>
            <a:chOff x="0" y="0"/>
            <a:chExt cx="8456996" cy="399654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2688824" y="0"/>
              <a:ext cx="3079348" cy="3079348"/>
            </a:xfrm>
            <a:custGeom>
              <a:avLst/>
              <a:gdLst/>
              <a:ahLst/>
              <a:cxnLst/>
              <a:rect r="r" b="b" t="t" l="l"/>
              <a:pathLst>
                <a:path h="3079348" w="3079348">
                  <a:moveTo>
                    <a:pt x="0" y="0"/>
                  </a:moveTo>
                  <a:lnTo>
                    <a:pt x="3079348" y="0"/>
                  </a:lnTo>
                  <a:lnTo>
                    <a:pt x="3079348" y="3079348"/>
                  </a:lnTo>
                  <a:lnTo>
                    <a:pt x="0" y="3079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0" y="3275048"/>
              <a:ext cx="8456996" cy="7215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53"/>
                </a:lnSpc>
              </a:pPr>
              <a:r>
                <a:rPr lang="en-US" sz="3252">
                  <a:solidFill>
                    <a:srgbClr val="FFFFFF"/>
                  </a:solidFill>
                  <a:latin typeface="Open Sans"/>
                </a:rPr>
                <a:t>C Sharp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99629" y="3334731"/>
            <a:ext cx="6407496" cy="3037379"/>
            <a:chOff x="0" y="0"/>
            <a:chExt cx="8543329" cy="404983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2743211" y="0"/>
              <a:ext cx="3056907" cy="3056907"/>
            </a:xfrm>
            <a:custGeom>
              <a:avLst/>
              <a:gdLst/>
              <a:ahLst/>
              <a:cxnLst/>
              <a:rect r="r" b="b" t="t" l="l"/>
              <a:pathLst>
                <a:path h="3056907" w="3056907">
                  <a:moveTo>
                    <a:pt x="0" y="0"/>
                  </a:moveTo>
                  <a:lnTo>
                    <a:pt x="3056907" y="0"/>
                  </a:lnTo>
                  <a:lnTo>
                    <a:pt x="3056907" y="3056907"/>
                  </a:lnTo>
                  <a:lnTo>
                    <a:pt x="0" y="30569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0" y="3321652"/>
              <a:ext cx="8543329" cy="7281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00"/>
                </a:lnSpc>
              </a:pPr>
              <a:r>
                <a:rPr lang="en-US" sz="3285">
                  <a:solidFill>
                    <a:srgbClr val="FFFFFF"/>
                  </a:solidFill>
                  <a:latin typeface="Open Sans"/>
                </a:rPr>
                <a:t>Window Form Application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598004" y="534228"/>
            <a:ext cx="16230600" cy="133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559"/>
              </a:lnSpc>
              <a:spcBef>
                <a:spcPct val="0"/>
              </a:spcBef>
            </a:pPr>
            <a:r>
              <a:rPr lang="en-US" sz="8799">
                <a:solidFill>
                  <a:srgbClr val="FFFFFF"/>
                </a:solidFill>
                <a:latin typeface="HK Grotesk Bold"/>
              </a:rPr>
              <a:t>Technologies utilisés pour le jeu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24517" y="356572"/>
            <a:ext cx="16230600" cy="266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59"/>
              </a:lnSpc>
            </a:pPr>
            <a:r>
              <a:rPr lang="en-US" sz="8799">
                <a:solidFill>
                  <a:srgbClr val="FFFFFF"/>
                </a:solidFill>
                <a:latin typeface="HK Grotesk Bold"/>
              </a:rPr>
              <a:t>Pourquoi utiliser WFA ? </a:t>
            </a:r>
          </a:p>
          <a:p>
            <a:pPr algn="l" marL="0" indent="0" lvl="0">
              <a:lnSpc>
                <a:spcPts val="10559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4511276" y="4120524"/>
            <a:ext cx="8457083" cy="704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99"/>
              </a:lnSpc>
            </a:pPr>
            <a:r>
              <a:rPr lang="en-US" sz="4999" spc="214">
                <a:solidFill>
                  <a:srgbClr val="FFFFFF"/>
                </a:solidFill>
                <a:latin typeface="Lato Bold Italics"/>
              </a:rPr>
              <a:t>PRISE EN MAIN AISÉE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218633" y="9249444"/>
            <a:ext cx="8457083" cy="704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9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4511276" y="2268516"/>
            <a:ext cx="8457083" cy="1392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99"/>
              </a:lnSpc>
            </a:pPr>
            <a:r>
              <a:rPr lang="en-US" sz="4999" spc="214">
                <a:solidFill>
                  <a:srgbClr val="FFFFFF"/>
                </a:solidFill>
                <a:latin typeface="Lato Bold Italics"/>
              </a:rPr>
              <a:t>INTERFACE INTUITIVE ET SIMPLE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511276" y="5596426"/>
            <a:ext cx="8457083" cy="1392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99"/>
              </a:lnSpc>
            </a:pPr>
            <a:r>
              <a:rPr lang="en-US" sz="4999" spc="214">
                <a:solidFill>
                  <a:srgbClr val="FFFFFF"/>
                </a:solidFill>
                <a:latin typeface="Lato Bold Italics"/>
              </a:rPr>
              <a:t>NE NECESSITE PAS DE NIVEAU PARTICULIER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511276" y="7760832"/>
            <a:ext cx="8457083" cy="2081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99"/>
              </a:lnSpc>
            </a:pPr>
            <a:r>
              <a:rPr lang="en-US" sz="4999" spc="214">
                <a:solidFill>
                  <a:srgbClr val="FFFFFF"/>
                </a:solidFill>
                <a:latin typeface="Lato"/>
              </a:rPr>
              <a:t>DISPOSE DE TRÈS NOMBREUX OUTILS PRATIQUES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21731" y="754265"/>
            <a:ext cx="16230600" cy="266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59"/>
              </a:lnSpc>
            </a:pPr>
            <a:r>
              <a:rPr lang="en-US" sz="8799">
                <a:solidFill>
                  <a:srgbClr val="FFFFFF"/>
                </a:solidFill>
                <a:latin typeface="HK Grotesk Bold"/>
              </a:rPr>
              <a:t>Pourquoi utiliser  C# ? </a:t>
            </a:r>
          </a:p>
          <a:p>
            <a:pPr algn="l" marL="0" indent="0" lvl="0">
              <a:lnSpc>
                <a:spcPts val="10559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4915458" y="4829330"/>
            <a:ext cx="8457083" cy="704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99"/>
              </a:lnSpc>
            </a:pPr>
            <a:r>
              <a:rPr lang="en-US" sz="4999" spc="214">
                <a:solidFill>
                  <a:srgbClr val="FFFFFF"/>
                </a:solidFill>
                <a:latin typeface="Lato Bold Italics"/>
              </a:rPr>
              <a:t>PRISE EN MAIN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218633" y="9249444"/>
            <a:ext cx="8457083" cy="704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9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4915458" y="3608990"/>
            <a:ext cx="8457083" cy="704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99"/>
              </a:lnSpc>
            </a:pPr>
            <a:r>
              <a:rPr lang="en-US" sz="4999" spc="214">
                <a:solidFill>
                  <a:srgbClr val="FFFFFF"/>
                </a:solidFill>
                <a:latin typeface="Lato Bold Italics"/>
              </a:rPr>
              <a:t>LANGUAGE DE WFA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915458" y="6076633"/>
            <a:ext cx="8457083" cy="1392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99"/>
              </a:lnSpc>
            </a:pPr>
            <a:r>
              <a:rPr lang="en-US" sz="4999" spc="214">
                <a:solidFill>
                  <a:srgbClr val="FFFFFF"/>
                </a:solidFill>
                <a:latin typeface="Lato Bold Italics"/>
              </a:rPr>
              <a:t>LANGUAGE ADAPTÉ AU DOMAINE APPLICATION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068612" y="7013298"/>
            <a:ext cx="4451023" cy="2059411"/>
            <a:chOff x="0" y="0"/>
            <a:chExt cx="5934697" cy="274588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812171" y="0"/>
              <a:ext cx="4079706" cy="1923033"/>
            </a:xfrm>
            <a:custGeom>
              <a:avLst/>
              <a:gdLst/>
              <a:ahLst/>
              <a:cxnLst/>
              <a:rect r="r" b="b" t="t" l="l"/>
              <a:pathLst>
                <a:path h="1923033" w="4079706">
                  <a:moveTo>
                    <a:pt x="0" y="0"/>
                  </a:moveTo>
                  <a:lnTo>
                    <a:pt x="4079706" y="0"/>
                  </a:lnTo>
                  <a:lnTo>
                    <a:pt x="4079706" y="1923033"/>
                  </a:lnTo>
                  <a:lnTo>
                    <a:pt x="0" y="1923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0" y="2248257"/>
              <a:ext cx="5934697" cy="497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95"/>
                </a:lnSpc>
              </a:pPr>
              <a:r>
                <a:rPr lang="en-US" sz="2282">
                  <a:solidFill>
                    <a:srgbClr val="FFFFFF"/>
                  </a:solidFill>
                  <a:latin typeface="Open Sans"/>
                </a:rPr>
                <a:t>Infinity Free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849937" y="7262106"/>
            <a:ext cx="3811349" cy="1996194"/>
          </a:xfrm>
          <a:custGeom>
            <a:avLst/>
            <a:gdLst/>
            <a:ahLst/>
            <a:cxnLst/>
            <a:rect r="r" b="b" t="t" l="l"/>
            <a:pathLst>
              <a:path h="1996194" w="3811349">
                <a:moveTo>
                  <a:pt x="0" y="0"/>
                </a:moveTo>
                <a:lnTo>
                  <a:pt x="3811350" y="0"/>
                </a:lnTo>
                <a:lnTo>
                  <a:pt x="3811350" y="1996194"/>
                </a:lnTo>
                <a:lnTo>
                  <a:pt x="0" y="19961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83952" y="3519561"/>
            <a:ext cx="3550343" cy="2461571"/>
          </a:xfrm>
          <a:custGeom>
            <a:avLst/>
            <a:gdLst/>
            <a:ahLst/>
            <a:cxnLst/>
            <a:rect r="r" b="b" t="t" l="l"/>
            <a:pathLst>
              <a:path h="2461571" w="3550343">
                <a:moveTo>
                  <a:pt x="0" y="0"/>
                </a:moveTo>
                <a:lnTo>
                  <a:pt x="3550342" y="0"/>
                </a:lnTo>
                <a:lnTo>
                  <a:pt x="3550342" y="2461571"/>
                </a:lnTo>
                <a:lnTo>
                  <a:pt x="0" y="24615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98004" y="534228"/>
            <a:ext cx="16230600" cy="133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559"/>
              </a:lnSpc>
              <a:spcBef>
                <a:spcPct val="0"/>
              </a:spcBef>
            </a:pPr>
            <a:r>
              <a:rPr lang="en-US" sz="8799">
                <a:solidFill>
                  <a:srgbClr val="FFFFFF"/>
                </a:solidFill>
                <a:latin typeface="HK Grotesk Bold"/>
              </a:rPr>
              <a:t>Technologies utilisés BDD/Site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911180" y="1519431"/>
            <a:ext cx="5750608" cy="5750608"/>
            <a:chOff x="0" y="0"/>
            <a:chExt cx="7667477" cy="766747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667477" cy="7667477"/>
            </a:xfrm>
            <a:custGeom>
              <a:avLst/>
              <a:gdLst/>
              <a:ahLst/>
              <a:cxnLst/>
              <a:rect r="r" b="b" t="t" l="l"/>
              <a:pathLst>
                <a:path h="7667477" w="7667477">
                  <a:moveTo>
                    <a:pt x="0" y="0"/>
                  </a:moveTo>
                  <a:lnTo>
                    <a:pt x="7667477" y="0"/>
                  </a:lnTo>
                  <a:lnTo>
                    <a:pt x="7667477" y="7667477"/>
                  </a:lnTo>
                  <a:lnTo>
                    <a:pt x="0" y="76674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2848298" y="5213630"/>
              <a:ext cx="1970881" cy="7516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Open Sans"/>
                </a:rPr>
                <a:t>FreeDB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3708957" y="3452886"/>
            <a:ext cx="3550343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</a:rPr>
              <a:t>BDD des infos de partie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084732" y="6999649"/>
            <a:ext cx="3287613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</a:rPr>
              <a:t>Service d’hébergement de notre site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162962" y="4328060"/>
            <a:ext cx="3550343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</a:rPr>
              <a:t>Language de la BDD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593657" y="7599724"/>
            <a:ext cx="3550343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</a:rPr>
              <a:t>Language Backend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21731" y="754265"/>
            <a:ext cx="16230600" cy="266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59"/>
              </a:lnSpc>
            </a:pPr>
            <a:r>
              <a:rPr lang="en-US" sz="8799">
                <a:solidFill>
                  <a:srgbClr val="FFFFFF"/>
                </a:solidFill>
                <a:latin typeface="HK Grotesk Bold"/>
              </a:rPr>
              <a:t>Pourquoi utiliser  My SQL ? </a:t>
            </a:r>
          </a:p>
          <a:p>
            <a:pPr algn="l" marL="0" indent="0" lvl="0">
              <a:lnSpc>
                <a:spcPts val="10559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4915458" y="5092013"/>
            <a:ext cx="8457083" cy="704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99"/>
              </a:lnSpc>
            </a:pPr>
            <a:r>
              <a:rPr lang="en-US" sz="4999" spc="214">
                <a:solidFill>
                  <a:srgbClr val="FFFFFF"/>
                </a:solidFill>
                <a:latin typeface="Lato Bold Italics"/>
              </a:rPr>
              <a:t>PRISE EN MAIN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218633" y="9249444"/>
            <a:ext cx="8457083" cy="704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9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4915458" y="3366377"/>
            <a:ext cx="8457083" cy="1392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99"/>
              </a:lnSpc>
            </a:pPr>
            <a:r>
              <a:rPr lang="en-US" sz="4999" spc="214">
                <a:solidFill>
                  <a:srgbClr val="FFFFFF"/>
                </a:solidFill>
                <a:latin typeface="Lato Bold Italics"/>
              </a:rPr>
              <a:t>LANGUAGE MYSQL  COURANT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915458" y="6284730"/>
            <a:ext cx="8457083" cy="1392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99"/>
              </a:lnSpc>
            </a:pPr>
            <a:r>
              <a:rPr lang="en-US" sz="4999" spc="214">
                <a:solidFill>
                  <a:srgbClr val="FFFFFF"/>
                </a:solidFill>
                <a:latin typeface="Lato Bold Italics"/>
              </a:rPr>
              <a:t>LANGUAGE DE NOTRE BASE DE DONNÉES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21731" y="754265"/>
            <a:ext cx="16230600" cy="266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59"/>
              </a:lnSpc>
            </a:pPr>
            <a:r>
              <a:rPr lang="en-US" sz="8799">
                <a:solidFill>
                  <a:srgbClr val="FFFFFF"/>
                </a:solidFill>
                <a:latin typeface="HK Grotesk Bold"/>
              </a:rPr>
              <a:t>Pourquoi utiliser  PHP ? </a:t>
            </a:r>
          </a:p>
          <a:p>
            <a:pPr algn="l" marL="0" indent="0" lvl="0">
              <a:lnSpc>
                <a:spcPts val="10559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4915458" y="5057916"/>
            <a:ext cx="8457083" cy="2081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99"/>
              </a:lnSpc>
            </a:pPr>
            <a:r>
              <a:rPr lang="en-US" sz="4999" spc="214">
                <a:solidFill>
                  <a:srgbClr val="FFFFFF"/>
                </a:solidFill>
                <a:latin typeface="Lato Bold Italics"/>
              </a:rPr>
              <a:t>PERMET DE CREER DE PAGE WEB  POUVANT ACCÉDER À UNE BDD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218633" y="9249444"/>
            <a:ext cx="8457083" cy="704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9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4915458" y="3195326"/>
            <a:ext cx="8457083" cy="1392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99"/>
              </a:lnSpc>
            </a:pPr>
            <a:r>
              <a:rPr lang="en-US" sz="4999" spc="214">
                <a:solidFill>
                  <a:srgbClr val="FFFFFF"/>
                </a:solidFill>
                <a:latin typeface="Lato Bold Italics"/>
              </a:rPr>
              <a:t>LANGUAGE BACKEND LE PLUS UTILISÉ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04056" y="807291"/>
            <a:ext cx="16230600" cy="266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59"/>
              </a:lnSpc>
            </a:pPr>
            <a:r>
              <a:rPr lang="en-US" sz="8799">
                <a:solidFill>
                  <a:srgbClr val="FFFFFF"/>
                </a:solidFill>
                <a:latin typeface="HK Grotesk Bold"/>
              </a:rPr>
              <a:t>Pourquoi utiliser  Infinity Free? </a:t>
            </a:r>
          </a:p>
          <a:p>
            <a:pPr algn="l" marL="0" indent="0" lvl="0">
              <a:lnSpc>
                <a:spcPts val="10559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4915458" y="4943840"/>
            <a:ext cx="8457083" cy="1392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99"/>
              </a:lnSpc>
            </a:pPr>
            <a:r>
              <a:rPr lang="en-US" sz="4999" spc="214">
                <a:solidFill>
                  <a:srgbClr val="FFFFFF"/>
                </a:solidFill>
                <a:latin typeface="Lato Bold Italics"/>
              </a:rPr>
              <a:t>INTERFACE CLAIRE FACILE À UTILISER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218633" y="9249444"/>
            <a:ext cx="8457083" cy="704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9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4915458" y="3070052"/>
            <a:ext cx="8457083" cy="2081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99"/>
              </a:lnSpc>
            </a:pPr>
            <a:r>
              <a:rPr lang="en-US" sz="4999" spc="214">
                <a:solidFill>
                  <a:srgbClr val="FFFFFF"/>
                </a:solidFill>
                <a:latin typeface="Lato Bold Italics"/>
              </a:rPr>
              <a:t>SERVICE D’HÉBERGEMENT GRATUIT</a:t>
            </a:r>
          </a:p>
          <a:p>
            <a:pPr algn="ctr">
              <a:lnSpc>
                <a:spcPts val="549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4915458" y="6973000"/>
            <a:ext cx="8457083" cy="1392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99"/>
              </a:lnSpc>
            </a:pPr>
            <a:r>
              <a:rPr lang="en-US" sz="4999" spc="214">
                <a:solidFill>
                  <a:srgbClr val="FFFFFF"/>
                </a:solidFill>
                <a:latin typeface="Lato Bold Italics"/>
              </a:rPr>
              <a:t>ACCES AU SERVEUR FTP INCLUS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04056" y="807291"/>
            <a:ext cx="16230600" cy="266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59"/>
              </a:lnSpc>
            </a:pPr>
            <a:r>
              <a:rPr lang="en-US" sz="8799">
                <a:solidFill>
                  <a:srgbClr val="FFFFFF"/>
                </a:solidFill>
                <a:latin typeface="HK Grotesk Bold"/>
              </a:rPr>
              <a:t>Pourquoi utiliser  FreeDB? </a:t>
            </a:r>
          </a:p>
          <a:p>
            <a:pPr algn="l" marL="0" indent="0" lvl="0">
              <a:lnSpc>
                <a:spcPts val="10559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4915458" y="5305425"/>
            <a:ext cx="8457083" cy="1392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99"/>
              </a:lnSpc>
            </a:pPr>
            <a:r>
              <a:rPr lang="en-US" sz="4999" spc="214">
                <a:solidFill>
                  <a:srgbClr val="FFFFFF"/>
                </a:solidFill>
                <a:latin typeface="Lato"/>
              </a:rPr>
              <a:t>PERMET  D’EFFECTUER DES ACTIONS CRUD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915458" y="3636320"/>
            <a:ext cx="8457083" cy="1392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99"/>
              </a:lnSpc>
            </a:pPr>
            <a:r>
              <a:rPr lang="en-US" sz="4999" spc="214">
                <a:solidFill>
                  <a:srgbClr val="FFFFFF"/>
                </a:solidFill>
                <a:latin typeface="Lato Bold Italics"/>
              </a:rPr>
              <a:t>SERVICE DE BDD GRATUIT</a:t>
            </a:r>
          </a:p>
          <a:p>
            <a:pPr algn="ctr">
              <a:lnSpc>
                <a:spcPts val="5499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342900"/>
            <a:ext cx="18288000" cy="10972800"/>
          </a:xfrm>
          <a:custGeom>
            <a:avLst/>
            <a:gdLst/>
            <a:ahLst/>
            <a:cxnLst/>
            <a:rect r="r" b="b" t="t" l="l"/>
            <a:pathLst>
              <a:path h="10972800" w="18288000">
                <a:moveTo>
                  <a:pt x="0" y="0"/>
                </a:moveTo>
                <a:lnTo>
                  <a:pt x="18288000" y="0"/>
                </a:lnTo>
                <a:lnTo>
                  <a:pt x="18288000" y="10972800"/>
                </a:lnTo>
                <a:lnTo>
                  <a:pt x="0" y="10972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392048" y="2634789"/>
            <a:ext cx="8441226" cy="6437920"/>
            <a:chOff x="0" y="0"/>
            <a:chExt cx="11254968" cy="858389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3262758" y="3306167"/>
              <a:ext cx="1324759" cy="1324759"/>
            </a:xfrm>
            <a:custGeom>
              <a:avLst/>
              <a:gdLst/>
              <a:ahLst/>
              <a:cxnLst/>
              <a:rect r="r" b="b" t="t" l="l"/>
              <a:pathLst>
                <a:path h="1324759" w="1324759">
                  <a:moveTo>
                    <a:pt x="0" y="0"/>
                  </a:moveTo>
                  <a:lnTo>
                    <a:pt x="1324760" y="0"/>
                  </a:lnTo>
                  <a:lnTo>
                    <a:pt x="1324760" y="1324760"/>
                  </a:lnTo>
                  <a:lnTo>
                    <a:pt x="0" y="1324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6296731" y="112323"/>
              <a:ext cx="1376036" cy="1430249"/>
            </a:xfrm>
            <a:custGeom>
              <a:avLst/>
              <a:gdLst/>
              <a:ahLst/>
              <a:cxnLst/>
              <a:rect r="r" b="b" t="t" l="l"/>
              <a:pathLst>
                <a:path h="1430249" w="1376036">
                  <a:moveTo>
                    <a:pt x="0" y="0"/>
                  </a:moveTo>
                  <a:lnTo>
                    <a:pt x="1376035" y="0"/>
                  </a:lnTo>
                  <a:lnTo>
                    <a:pt x="1376035" y="1430249"/>
                  </a:lnTo>
                  <a:lnTo>
                    <a:pt x="0" y="14302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969" t="0" r="-1969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954171" y="7262072"/>
              <a:ext cx="1321822" cy="1321822"/>
            </a:xfrm>
            <a:custGeom>
              <a:avLst/>
              <a:gdLst/>
              <a:ahLst/>
              <a:cxnLst/>
              <a:rect r="r" b="b" t="t" l="l"/>
              <a:pathLst>
                <a:path h="1321822" w="1321822">
                  <a:moveTo>
                    <a:pt x="0" y="0"/>
                  </a:moveTo>
                  <a:lnTo>
                    <a:pt x="1321822" y="0"/>
                  </a:lnTo>
                  <a:lnTo>
                    <a:pt x="1321822" y="1321822"/>
                  </a:lnTo>
                  <a:lnTo>
                    <a:pt x="0" y="13218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AutoShape 7" id="7"/>
            <p:cNvSpPr/>
            <p:nvPr/>
          </p:nvSpPr>
          <p:spPr>
            <a:xfrm flipV="true">
              <a:off x="4504227" y="1086170"/>
              <a:ext cx="1772416" cy="2290511"/>
            </a:xfrm>
            <a:prstGeom prst="line">
              <a:avLst/>
            </a:prstGeom>
            <a:ln cap="flat" w="50800">
              <a:solidFill>
                <a:srgbClr val="FFFFFF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8" id="8"/>
            <p:cNvSpPr/>
            <p:nvPr/>
          </p:nvSpPr>
          <p:spPr>
            <a:xfrm flipV="true">
              <a:off x="3589946" y="4630927"/>
              <a:ext cx="335192" cy="2514810"/>
            </a:xfrm>
            <a:prstGeom prst="line">
              <a:avLst/>
            </a:prstGeom>
            <a:ln cap="flat" w="50800">
              <a:solidFill>
                <a:srgbClr val="FFFFFF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TextBox 9" id="9"/>
            <p:cNvSpPr txBox="true"/>
            <p:nvPr/>
          </p:nvSpPr>
          <p:spPr>
            <a:xfrm rot="0">
              <a:off x="4978326" y="4271105"/>
              <a:ext cx="6276643" cy="5649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66"/>
                </a:lnSpc>
              </a:pPr>
              <a:r>
                <a:rPr lang="en-US" sz="2547">
                  <a:solidFill>
                    <a:srgbClr val="FFFFFF"/>
                  </a:solidFill>
                  <a:latin typeface="Open Sans Bold"/>
                </a:rPr>
                <a:t>Base de donnée à distance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2644486" y="7875358"/>
              <a:ext cx="6276643" cy="5649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66"/>
                </a:lnSpc>
              </a:pPr>
              <a:r>
                <a:rPr lang="en-US" sz="2547">
                  <a:solidFill>
                    <a:srgbClr val="FFFFFF"/>
                  </a:solidFill>
                  <a:latin typeface="Open Sans Bold"/>
                </a:rPr>
                <a:t>Jeu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47625"/>
              <a:ext cx="6276643" cy="11685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66"/>
                </a:lnSpc>
              </a:pPr>
              <a:r>
                <a:rPr lang="en-US" sz="2547">
                  <a:solidFill>
                    <a:srgbClr val="FFFFFF"/>
                  </a:solidFill>
                  <a:latin typeface="Open Sans Bold"/>
                </a:rPr>
                <a:t>Site avec les scores des joueurs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968775" y="1249442"/>
            <a:ext cx="582231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FFFFFF"/>
                </a:solidFill>
                <a:latin typeface="Open Sans Bold"/>
              </a:rPr>
              <a:t>Schéma explicatif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83023" y="3906865"/>
            <a:ext cx="4650507" cy="724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0"/>
              </a:lnSpc>
            </a:pPr>
            <a:r>
              <a:rPr lang="en-US" sz="2078">
                <a:solidFill>
                  <a:srgbClr val="FFFFFF"/>
                </a:solidFill>
                <a:latin typeface="Open Sans Bold"/>
              </a:rPr>
              <a:t>Utilisation du PHP (mysqli) </a:t>
            </a:r>
          </a:p>
          <a:p>
            <a:pPr algn="ctr">
              <a:lnSpc>
                <a:spcPts val="2910"/>
              </a:lnSpc>
            </a:pPr>
            <a:r>
              <a:rPr lang="en-US" sz="2078">
                <a:solidFill>
                  <a:srgbClr val="FFFFFF"/>
                </a:solidFill>
                <a:latin typeface="Open Sans Bold"/>
              </a:rPr>
              <a:t>et de C# (mysqlclient) pour le CRUD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4943843"/>
            <a:ext cx="4734888" cy="351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7"/>
              </a:lnSpc>
            </a:pPr>
            <a:r>
              <a:rPr lang="en-US" sz="2005">
                <a:solidFill>
                  <a:srgbClr val="FFFFFF"/>
                </a:solidFill>
                <a:latin typeface="Open Sans Bold"/>
              </a:rPr>
              <a:t>Utilisation de MySQL pour la BDD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0846644" y="3285382"/>
            <a:ext cx="872201" cy="456815"/>
          </a:xfrm>
          <a:custGeom>
            <a:avLst/>
            <a:gdLst/>
            <a:ahLst/>
            <a:cxnLst/>
            <a:rect r="r" b="b" t="t" l="l"/>
            <a:pathLst>
              <a:path h="456815" w="872201">
                <a:moveTo>
                  <a:pt x="0" y="0"/>
                </a:moveTo>
                <a:lnTo>
                  <a:pt x="872201" y="0"/>
                </a:lnTo>
                <a:lnTo>
                  <a:pt x="872201" y="456815"/>
                </a:lnTo>
                <a:lnTo>
                  <a:pt x="0" y="45681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218677" y="5218397"/>
            <a:ext cx="1553759" cy="1077273"/>
          </a:xfrm>
          <a:custGeom>
            <a:avLst/>
            <a:gdLst/>
            <a:ahLst/>
            <a:cxnLst/>
            <a:rect r="r" b="b" t="t" l="l"/>
            <a:pathLst>
              <a:path h="1077273" w="1553759">
                <a:moveTo>
                  <a:pt x="0" y="0"/>
                </a:moveTo>
                <a:lnTo>
                  <a:pt x="1553759" y="0"/>
                </a:lnTo>
                <a:lnTo>
                  <a:pt x="1553759" y="1077273"/>
                </a:lnTo>
                <a:lnTo>
                  <a:pt x="0" y="107727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2826249" y="6097323"/>
            <a:ext cx="1552722" cy="1552722"/>
            <a:chOff x="0" y="0"/>
            <a:chExt cx="2070296" cy="20702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70296" cy="2070296"/>
            </a:xfrm>
            <a:custGeom>
              <a:avLst/>
              <a:gdLst/>
              <a:ahLst/>
              <a:cxnLst/>
              <a:rect r="r" b="b" t="t" l="l"/>
              <a:pathLst>
                <a:path h="2070296" w="2070296">
                  <a:moveTo>
                    <a:pt x="0" y="0"/>
                  </a:moveTo>
                  <a:lnTo>
                    <a:pt x="2070296" y="0"/>
                  </a:lnTo>
                  <a:lnTo>
                    <a:pt x="2070296" y="2070296"/>
                  </a:lnTo>
                  <a:lnTo>
                    <a:pt x="0" y="20702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769069" y="1406685"/>
              <a:ext cx="532158" cy="2039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85"/>
                </a:lnSpc>
              </a:pPr>
              <a:r>
                <a:rPr lang="en-US" sz="918">
                  <a:solidFill>
                    <a:srgbClr val="FFFFFF"/>
                  </a:solidFill>
                  <a:latin typeface="Open Sans"/>
                </a:rPr>
                <a:t>FreeDB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142195" y="3842436"/>
            <a:ext cx="1368109" cy="633000"/>
            <a:chOff x="0" y="0"/>
            <a:chExt cx="1824145" cy="844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249637" y="0"/>
              <a:ext cx="1253977" cy="591082"/>
            </a:xfrm>
            <a:custGeom>
              <a:avLst/>
              <a:gdLst/>
              <a:ahLst/>
              <a:cxnLst/>
              <a:rect r="r" b="b" t="t" l="l"/>
              <a:pathLst>
                <a:path h="591082" w="1253977">
                  <a:moveTo>
                    <a:pt x="0" y="0"/>
                  </a:moveTo>
                  <a:lnTo>
                    <a:pt x="1253977" y="0"/>
                  </a:lnTo>
                  <a:lnTo>
                    <a:pt x="1253977" y="591082"/>
                  </a:lnTo>
                  <a:lnTo>
                    <a:pt x="0" y="5910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 rot="0">
              <a:off x="0" y="693231"/>
              <a:ext cx="1824145" cy="1507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82"/>
                </a:lnSpc>
              </a:pPr>
              <a:r>
                <a:rPr lang="en-US" sz="701">
                  <a:solidFill>
                    <a:srgbClr val="FFFFFF"/>
                  </a:solidFill>
                  <a:latin typeface="Open Sans"/>
                </a:rPr>
                <a:t>Infinity Free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525620" y="9072710"/>
            <a:ext cx="2300630" cy="1090579"/>
            <a:chOff x="0" y="0"/>
            <a:chExt cx="3067506" cy="145410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984958" y="0"/>
              <a:ext cx="1097591" cy="1097591"/>
            </a:xfrm>
            <a:custGeom>
              <a:avLst/>
              <a:gdLst/>
              <a:ahLst/>
              <a:cxnLst/>
              <a:rect r="r" b="b" t="t" l="l"/>
              <a:pathLst>
                <a:path h="1097591" w="1097591">
                  <a:moveTo>
                    <a:pt x="0" y="0"/>
                  </a:moveTo>
                  <a:lnTo>
                    <a:pt x="1097591" y="0"/>
                  </a:lnTo>
                  <a:lnTo>
                    <a:pt x="1097591" y="1097591"/>
                  </a:lnTo>
                  <a:lnTo>
                    <a:pt x="0" y="10975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 rot="0">
              <a:off x="0" y="1197538"/>
              <a:ext cx="3067506" cy="2565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51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772066" y="8581650"/>
            <a:ext cx="2078238" cy="982120"/>
            <a:chOff x="0" y="0"/>
            <a:chExt cx="2770985" cy="130949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881009" y="0"/>
              <a:ext cx="1008967" cy="1008967"/>
            </a:xfrm>
            <a:custGeom>
              <a:avLst/>
              <a:gdLst/>
              <a:ahLst/>
              <a:cxnLst/>
              <a:rect r="r" b="b" t="t" l="l"/>
              <a:pathLst>
                <a:path h="1008967" w="1008967">
                  <a:moveTo>
                    <a:pt x="0" y="0"/>
                  </a:moveTo>
                  <a:lnTo>
                    <a:pt x="1008967" y="0"/>
                  </a:lnTo>
                  <a:lnTo>
                    <a:pt x="1008967" y="1008967"/>
                  </a:lnTo>
                  <a:lnTo>
                    <a:pt x="0" y="10089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 rot="0">
              <a:off x="0" y="1085410"/>
              <a:ext cx="2770985" cy="2240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92"/>
                </a:lnSpc>
              </a:pPr>
              <a:r>
                <a:rPr lang="en-US" sz="1065">
                  <a:solidFill>
                    <a:srgbClr val="FFFFFF"/>
                  </a:solidFill>
                  <a:latin typeface="Open Sans"/>
                </a:rPr>
                <a:t>C Sharp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028700" y="5609857"/>
            <a:ext cx="4734888" cy="706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7"/>
              </a:lnSpc>
            </a:pPr>
            <a:r>
              <a:rPr lang="en-US" sz="2005">
                <a:solidFill>
                  <a:srgbClr val="FFFFFF"/>
                </a:solidFill>
                <a:latin typeface="Open Sans Bold"/>
              </a:rPr>
              <a:t>Utilisation de PHP pour la liaison BDD/site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94481" y="1886551"/>
            <a:ext cx="14086927" cy="7599354"/>
          </a:xfrm>
          <a:custGeom>
            <a:avLst/>
            <a:gdLst/>
            <a:ahLst/>
            <a:cxnLst/>
            <a:rect r="r" b="b" t="t" l="l"/>
            <a:pathLst>
              <a:path h="7599354" w="14086927">
                <a:moveTo>
                  <a:pt x="0" y="0"/>
                </a:moveTo>
                <a:lnTo>
                  <a:pt x="14086927" y="0"/>
                </a:lnTo>
                <a:lnTo>
                  <a:pt x="14086927" y="7599354"/>
                </a:lnTo>
                <a:lnTo>
                  <a:pt x="0" y="75993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31743" y="569429"/>
            <a:ext cx="6477922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380"/>
              </a:lnSpc>
              <a:spcBef>
                <a:spcPct val="0"/>
              </a:spcBef>
            </a:pPr>
            <a:r>
              <a:rPr lang="en-US" sz="6150">
                <a:solidFill>
                  <a:srgbClr val="FFFFFF"/>
                </a:solidFill>
                <a:latin typeface="HK Grotesk Bold"/>
              </a:rPr>
              <a:t>Gestion de projet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31743" y="569429"/>
            <a:ext cx="9632956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380"/>
              </a:lnSpc>
              <a:spcBef>
                <a:spcPct val="0"/>
              </a:spcBef>
            </a:pPr>
            <a:r>
              <a:rPr lang="en-US" sz="6150">
                <a:solidFill>
                  <a:srgbClr val="FFFFFF"/>
                </a:solidFill>
                <a:latin typeface="HK Grotesk Bold"/>
              </a:rPr>
              <a:t>Avancement du projet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95149" y="2627493"/>
            <a:ext cx="8906146" cy="547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18"/>
              </a:lnSpc>
            </a:pPr>
            <a:r>
              <a:rPr lang="en-US" sz="3155">
                <a:solidFill>
                  <a:srgbClr val="FFFFFF"/>
                </a:solidFill>
                <a:latin typeface="Open Sans Bold"/>
              </a:rPr>
              <a:t>La plupart des fonctionnalités on été livrées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39238" y="4819967"/>
            <a:ext cx="952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843124" y="3901642"/>
            <a:ext cx="9577457" cy="547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18"/>
              </a:lnSpc>
            </a:pPr>
            <a:r>
              <a:rPr lang="en-US" sz="3155">
                <a:solidFill>
                  <a:srgbClr val="FFFFFF"/>
                </a:solidFill>
                <a:latin typeface="Open Sans Bold"/>
              </a:rPr>
              <a:t>Le jeu est fonctionnel ainsi que la BDD et le site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14027" y="5060442"/>
            <a:ext cx="11719243" cy="621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3"/>
              </a:lnSpc>
            </a:pPr>
            <a:r>
              <a:rPr lang="en-US" sz="3659">
                <a:solidFill>
                  <a:srgbClr val="FFFFFF"/>
                </a:solidFill>
                <a:latin typeface="Open Sans Bold"/>
              </a:rPr>
              <a:t>Il est possible à n’importe qui de jouer à notre jeu 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55540" y="6113326"/>
            <a:ext cx="7284720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FFFFFF"/>
                </a:solidFill>
                <a:latin typeface="Open Sans Bold"/>
              </a:rPr>
              <a:t>Notre jeu est “plug and play”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342900"/>
            <a:ext cx="18288000" cy="10972800"/>
          </a:xfrm>
          <a:custGeom>
            <a:avLst/>
            <a:gdLst/>
            <a:ahLst/>
            <a:cxnLst/>
            <a:rect r="r" b="b" t="t" l="l"/>
            <a:pathLst>
              <a:path h="10972800" w="18288000">
                <a:moveTo>
                  <a:pt x="0" y="0"/>
                </a:moveTo>
                <a:lnTo>
                  <a:pt x="18288000" y="0"/>
                </a:lnTo>
                <a:lnTo>
                  <a:pt x="18288000" y="10972800"/>
                </a:lnTo>
                <a:lnTo>
                  <a:pt x="0" y="10972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76009" y="4476750"/>
            <a:ext cx="7482614" cy="133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559"/>
              </a:lnSpc>
              <a:spcBef>
                <a:spcPct val="0"/>
              </a:spcBef>
            </a:pPr>
            <a:r>
              <a:rPr lang="en-US" sz="8799">
                <a:solidFill>
                  <a:srgbClr val="FFFFFF"/>
                </a:solidFill>
                <a:latin typeface="HK Grotesk Bold"/>
              </a:rPr>
              <a:t>Démonstration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762" y="0"/>
            <a:ext cx="18297525" cy="10287000"/>
          </a:xfrm>
          <a:custGeom>
            <a:avLst/>
            <a:gdLst/>
            <a:ahLst/>
            <a:cxnLst/>
            <a:rect r="r" b="b" t="t" l="l"/>
            <a:pathLst>
              <a:path h="10287000" w="18297525">
                <a:moveTo>
                  <a:pt x="0" y="0"/>
                </a:moveTo>
                <a:lnTo>
                  <a:pt x="18297524" y="0"/>
                </a:lnTo>
                <a:lnTo>
                  <a:pt x="1829752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958149" y="6881892"/>
            <a:ext cx="12889951" cy="133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0559"/>
              </a:lnSpc>
              <a:spcBef>
                <a:spcPct val="0"/>
              </a:spcBef>
            </a:pPr>
            <a:r>
              <a:rPr lang="en-US" sz="8799">
                <a:solidFill>
                  <a:srgbClr val="FFFFFF"/>
                </a:solidFill>
                <a:latin typeface="HK Grotesk Bold"/>
              </a:rPr>
              <a:t>Merci de votre écoute!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DAGGVMxAXvo</dc:identifier>
  <dcterms:modified xsi:type="dcterms:W3CDTF">2011-08-01T06:04:30Z</dcterms:modified>
  <cp:revision>1</cp:revision>
  <dc:title>Présentation Orale de SkullsnBones</dc:title>
</cp:coreProperties>
</file>